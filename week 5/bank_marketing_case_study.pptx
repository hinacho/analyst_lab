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Trebuchet MS"/>
              </a:defRPr>
            </a:pPr>
            <a:r>
              <a:t>BANK MARKETING CAMPAIGN OPTIMIZATION</a:t>
            </a:r>
          </a:p>
          <a:p>
            <a:pPr algn="l">
              <a:defRPr sz="1800" i="1">
                <a:solidFill>
                  <a:srgbClr val="0F766E"/>
                </a:solidFill>
                <a:latin typeface="Calibri"/>
              </a:defRPr>
            </a:pPr>
            <a:r>
              <a:t>Maximizing Deposit Subscriptions via Statistical Driver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AnalystLab Africa Data Analytics Internship Program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Week 5 Case Study - Batch B (1st of June to 1st of August)</a:t>
            </a:r>
            <a:br/>
            <a:r>
              <a:t>Prepared by: Data Analyst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Calibri"/>
              </a:defRPr>
            </a:pPr>
            <a:r>
              <a:t>CASE STUDY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Trebuchet MS"/>
              </a:defRPr>
            </a:pPr>
            <a:r>
              <a:t>The Business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3840480" cy="3566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Trebuchet MS"/>
              </a:defRPr>
            </a:pPr>
            <a:r>
              <a:t>Campaign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Core Objective: </a:t>
            </a:r>
            <a:r>
              <a:rPr sz="1300">
                <a:solidFill>
                  <a:srgbClr val="1E293B"/>
                </a:solidFill>
                <a:latin typeface="Calibri"/>
              </a:rPr>
              <a:t>Understand why clients subscribe to term deposits and identify high-conversion customer segments to boost ROI.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Problem: </a:t>
            </a:r>
            <a:r>
              <a:rPr sz="1300">
                <a:solidFill>
                  <a:srgbClr val="1E293B"/>
                </a:solidFill>
                <a:latin typeface="Calibri"/>
              </a:rPr>
              <a:t>Direct telemarketing campaigns are expensive and suffer from low efficiency due to unsegmented cold-calling.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Impact: </a:t>
            </a:r>
            <a:r>
              <a:rPr sz="1300">
                <a:solidFill>
                  <a:srgbClr val="1E293B"/>
                </a:solidFill>
                <a:latin typeface="Calibri"/>
              </a:rPr>
              <a:t>Over-contacting customer pools causes campaign fatigue, brand irritation, and call-center resource drain.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05840"/>
            <a:ext cx="3840480" cy="3566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109728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Trebuchet MS"/>
              </a:defRPr>
            </a:pPr>
            <a:r>
              <a:t>Current Campaign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371600"/>
            <a:ext cx="3566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  <a:latin typeface="Trebuchet MS"/>
              </a:defRPr>
            </a:pPr>
            <a:r>
              <a:t>47.38%</a:t>
            </a:r>
          </a:p>
          <a:p>
            <a:pPr algn="ct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Average Subscription Rate (5,289/11,162 Subscribed)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46888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Volume Inefficiency: </a:t>
            </a:r>
            <a:r>
              <a:rPr sz="1200">
                <a:solidFill>
                  <a:srgbClr val="1E293B"/>
                </a:solidFill>
                <a:latin typeface="Calibri"/>
              </a:rPr>
              <a:t>May campaigns accounts for 25% of all calls, yet yield the lowest conversions (32.8%).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Unknown Methods: </a:t>
            </a:r>
            <a:r>
              <a:rPr sz="1200">
                <a:solidFill>
                  <a:srgbClr val="1E293B"/>
                </a:solidFill>
                <a:latin typeface="Calibri"/>
              </a:rPr>
              <a:t>Calling clients with unknown details drops conversion to only 22.6%.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Calibri"/>
              </a:defRPr>
            </a:pPr>
            <a:r>
              <a:t>CASE STUDY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Trebuchet MS"/>
              </a:defRPr>
            </a:pPr>
            <a:r>
              <a:t>Dataset &amp; Analytics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3840480" cy="3566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Trebuchet MS"/>
              </a:defRPr>
            </a:pPr>
            <a:r>
              <a:t>Dataset Characteristics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Volume &amp; Quality: </a:t>
            </a:r>
            <a:r>
              <a:rPr sz="1200">
                <a:solidFill>
                  <a:srgbClr val="1E293B"/>
                </a:solidFill>
                <a:latin typeface="Calibri"/>
              </a:rPr>
              <a:t>11,162 unique client outreach records with 100% complete data (no missing values).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Demographics: </a:t>
            </a:r>
            <a:r>
              <a:rPr sz="1200">
                <a:solidFill>
                  <a:srgbClr val="1E293B"/>
                </a:solidFill>
                <a:latin typeface="Calibri"/>
              </a:rPr>
              <a:t>Age, job profiles, marital status, and education levels.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Financial Profiles: </a:t>
            </a:r>
            <a:r>
              <a:rPr sz="1200">
                <a:solidFill>
                  <a:srgbClr val="1E293B"/>
                </a:solidFill>
                <a:latin typeface="Calibri"/>
              </a:rPr>
              <a:t>Account balances, housing/personal loan obligations, credit default status.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Campaign Detail: </a:t>
            </a:r>
            <a:r>
              <a:rPr sz="1200">
                <a:solidFill>
                  <a:srgbClr val="1E293B"/>
                </a:solidFill>
                <a:latin typeface="Calibri"/>
              </a:rPr>
              <a:t>Call duration, month, contact type, and previous marketing outcome status.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05840"/>
            <a:ext cx="3840480" cy="3566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109728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Trebuchet MS"/>
              </a:defRPr>
            </a:pPr>
            <a:r>
              <a:t>Methodological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Exploratory Data Analysis: </a:t>
            </a:r>
            <a:r>
              <a:rPr sz="1200">
                <a:solidFill>
                  <a:srgbClr val="1E293B"/>
                </a:solidFill>
                <a:latin typeface="Calibri"/>
              </a:rPr>
              <a:t>Calculated conditional probabilities to identify high-performing cohorts.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Feature Engineering: </a:t>
            </a:r>
            <a:r>
              <a:rPr sz="1200">
                <a:solidFill>
                  <a:srgbClr val="1E293B"/>
                </a:solidFill>
                <a:latin typeface="Calibri"/>
              </a:rPr>
              <a:t>Segmented account balance, age, and call count to discover non-linear trends.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Driver Significance: </a:t>
            </a:r>
            <a:r>
              <a:rPr sz="1200">
                <a:solidFill>
                  <a:srgbClr val="1E293B"/>
                </a:solidFill>
                <a:latin typeface="Calibri"/>
              </a:rPr>
              <a:t>Trained a Random Forest Classifier to identify features with the strongest predictive power.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Calibri"/>
              </a:defRPr>
            </a:pPr>
            <a:r>
              <a:t>CASE STUDY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Trebuchet MS"/>
              </a:defRPr>
            </a:pPr>
            <a:r>
              <a:t>Statistical Drivers of Subscription Success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8046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310896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  <a:latin typeface="Trebuchet MS"/>
                        </a:defRPr>
                      </a:pPr>
                      <a:r>
                        <a:t>Predictive Feature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  <a:latin typeface="Trebuchet MS"/>
                        </a:defRPr>
                      </a:pPr>
                      <a:r>
                        <a:t>Relative Importance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  <a:latin typeface="Trebuchet MS"/>
                        </a:defRPr>
                      </a:pPr>
                      <a:r>
                        <a:t>Business Relevance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Call Duration (duration)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766E"/>
                          </a:solidFill>
                          <a:latin typeface="Calibri"/>
                        </a:defRPr>
                      </a:pPr>
                      <a:r>
                        <a:t>36.87% (Rank 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Strongest driver; length of pitch correlates to success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Yearly Balance (balance)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766E"/>
                          </a:solidFill>
                          <a:latin typeface="Calibri"/>
                        </a:defRPr>
                      </a:pPr>
                      <a:r>
                        <a:t>8.88% (Rank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Financial capacity determines savings capability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Customer Age (age)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766E"/>
                          </a:solidFill>
                          <a:latin typeface="Calibri"/>
                        </a:defRPr>
                      </a:pPr>
                      <a:r>
                        <a:t>8.40% (Rank 3)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Non-linear U-shape (youth &amp; retirees subscribe most)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Outreach Month (month)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766E"/>
                          </a:solidFill>
                          <a:latin typeface="Calibri"/>
                        </a:defRPr>
                      </a:pPr>
                      <a:r>
                        <a:t>8.32% (Rank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Strong seasonal trends, highlighting campaign fatigue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Contact Channel (contact)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766E"/>
                          </a:solidFill>
                          <a:latin typeface="Calibri"/>
                        </a:defRPr>
                      </a:pPr>
                      <a:r>
                        <a:t>4.48% (Rank 7)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Cellular out-performs unknown methods (+32%)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Prev Outcome (poutcome)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766E"/>
                          </a:solidFill>
                          <a:latin typeface="Calibri"/>
                        </a:defRPr>
                      </a:pPr>
                      <a:r>
                        <a:t>3.34% (Rank 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Previous successes represent high-conversion warm leads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Calibri"/>
              </a:defRPr>
            </a:pPr>
            <a:r>
              <a:t>CASE STUDY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Trebuchet MS"/>
              </a:defRPr>
            </a:pPr>
            <a:r>
              <a:t>Operational Insights: Call Duration &amp; Recontact Caps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3840480" cy="3566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Trebuchet MS"/>
              </a:defRPr>
            </a:pPr>
            <a:r>
              <a:t>The Call Duration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Immediate Rejection (&lt;2 min): </a:t>
            </a:r>
            <a:r>
              <a:rPr sz="1200">
                <a:solidFill>
                  <a:srgbClr val="1E293B"/>
                </a:solidFill>
                <a:latin typeface="Calibri"/>
              </a:rPr>
              <a:t>Only 9.02% of short calls convert. This represents cold-calling dismissals.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Interactive Pitch (3.5-5.5 min): </a:t>
            </a:r>
            <a:r>
              <a:rPr sz="1200">
                <a:solidFill>
                  <a:srgbClr val="1E293B"/>
                </a:solidFill>
                <a:latin typeface="Calibri"/>
              </a:rPr>
              <a:t>A healthy subscription rate of 48.54% is achieved, showing customer engagement.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Product Deep-Dive (9.5+ min): </a:t>
            </a:r>
            <a:r>
              <a:rPr sz="1200">
                <a:solidFill>
                  <a:srgbClr val="1E293B"/>
                </a:solidFill>
                <a:latin typeface="Calibri"/>
              </a:rPr>
              <a:t>84.70% conversion rate. Longer conversations allow detailed discussion of savings products.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05840"/>
            <a:ext cx="3840480" cy="3566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109728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Trebuchet MS"/>
              </a:defRPr>
            </a:pPr>
            <a:r>
              <a:t>Contact Frequency Diminishing Returns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First Attempt (1 call): </a:t>
            </a:r>
            <a:r>
              <a:rPr sz="1200">
                <a:solidFill>
                  <a:srgbClr val="1E293B"/>
                </a:solidFill>
                <a:latin typeface="Calibri"/>
              </a:rPr>
              <a:t>Peak conversion at 53.38%. This is the prime opportunity window.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Second &amp; Third Call: </a:t>
            </a:r>
            <a:r>
              <a:rPr sz="1200">
                <a:solidFill>
                  <a:srgbClr val="1E293B"/>
                </a:solidFill>
                <a:latin typeface="Calibri"/>
              </a:rPr>
              <a:t>Conversions drop slightly to 46.27% (2 calls) and 46.78% (3 calls).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Diminishing Returns (4-5 calls): </a:t>
            </a:r>
            <a:r>
              <a:rPr sz="1200">
                <a:solidFill>
                  <a:srgbClr val="1E293B"/>
                </a:solidFill>
                <a:latin typeface="Calibri"/>
              </a:rPr>
              <a:t>Rates drop to 39.69%, indicating customer resistance.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Inefficient Over-Contact (10+ calls): </a:t>
            </a:r>
            <a:r>
              <a:rPr sz="1200">
                <a:solidFill>
                  <a:srgbClr val="1E293B"/>
                </a:solidFill>
                <a:latin typeface="Calibri"/>
              </a:rPr>
              <a:t>Subscription rates crash to 22.38%. Wastes center resources and irritates clients.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Calibri"/>
              </a:defRPr>
            </a:pPr>
            <a:r>
              <a:t>CASE STUDY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Trebuchet MS"/>
              </a:defRPr>
            </a:pPr>
            <a:r>
              <a:t>Temporal Insights: Monthly Fatigue vs. Off-Peak Gains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3840480" cy="3566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Trebuchet MS"/>
              </a:defRPr>
            </a:pPr>
            <a:r>
              <a:t>The May Over-Saturation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Disproportionate Volume: </a:t>
            </a:r>
            <a:r>
              <a:rPr sz="1200">
                <a:solidFill>
                  <a:srgbClr val="1E293B"/>
                </a:solidFill>
                <a:latin typeface="Calibri"/>
              </a:rPr>
              <a:t>May represents 25.3% of total campaigns (2,824 calls).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Poorest Performance: </a:t>
            </a:r>
            <a:r>
              <a:rPr sz="1200">
                <a:solidFill>
                  <a:srgbClr val="1E293B"/>
                </a:solidFill>
                <a:latin typeface="Calibri"/>
              </a:rPr>
              <a:t>May yields the lowest subscription rate of just 32.76%.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Operational Drain: </a:t>
            </a:r>
            <a:r>
              <a:rPr sz="1200">
                <a:solidFill>
                  <a:srgbClr val="1E293B"/>
                </a:solidFill>
                <a:latin typeface="Calibri"/>
              </a:rPr>
              <a:t>High volumes of low-quality cold calls represent a massive sink of agent hours and acquisition costs.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05840"/>
            <a:ext cx="3840480" cy="3566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109728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Trebuchet MS"/>
              </a:defRPr>
            </a:pPr>
            <a:r>
              <a:t>The Off-Peak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Transitional Peaks: </a:t>
            </a:r>
            <a:r>
              <a:rPr sz="1200">
                <a:solidFill>
                  <a:srgbClr val="1E293B"/>
                </a:solidFill>
                <a:latin typeface="Calibri"/>
              </a:rPr>
              <a:t>March (89.86%), September (84.33%), and October (82.40%) convert incredibly well.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Winter Surge: </a:t>
            </a:r>
            <a:r>
              <a:rPr sz="1200">
                <a:solidFill>
                  <a:srgbClr val="1E293B"/>
                </a:solidFill>
                <a:latin typeface="Calibri"/>
              </a:rPr>
              <a:t>December reaches a 90.91% conversion rate on low-volume, highly selective outreach.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Strategy: </a:t>
            </a:r>
            <a:r>
              <a:rPr sz="1200">
                <a:solidFill>
                  <a:srgbClr val="1E293B"/>
                </a:solidFill>
                <a:latin typeface="Calibri"/>
              </a:rPr>
              <a:t>Shift call center capacity away from May to these transitional months where customers are highly receptive.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Calibri"/>
              </a:defRPr>
            </a:pPr>
            <a:r>
              <a:t>CASE STUDY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Trebuchet MS"/>
              </a:defRPr>
            </a:pPr>
            <a:r>
              <a:t>Customer Segments: Opportunities &amp; Risks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3840480" cy="35661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Trebuchet MS"/>
              </a:defRPr>
            </a:pPr>
            <a:r>
              <a:t>Target Profiles (Opportunity Segments)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Students &amp; Retirees: </a:t>
            </a:r>
            <a:r>
              <a:rPr sz="1200">
                <a:solidFill>
                  <a:srgbClr val="1E293B"/>
                </a:solidFill>
                <a:latin typeface="Calibri"/>
              </a:rPr>
              <a:t>Students convert at 74.72% and Retirees convert at 66.32%. Highly receptive demographic.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High-Balance Clients: </a:t>
            </a:r>
            <a:r>
              <a:rPr sz="1200">
                <a:solidFill>
                  <a:srgbClr val="1E293B"/>
                </a:solidFill>
                <a:latin typeface="Calibri"/>
              </a:rPr>
              <a:t>Top balance quintile (&gt;€1,708 balance) converts at 58.00%. Highly liquid capital.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Prior Successes: </a:t>
            </a:r>
            <a:r>
              <a:rPr sz="1200">
                <a:solidFill>
                  <a:srgbClr val="1E293B"/>
                </a:solidFill>
                <a:latin typeface="Calibri"/>
              </a:rPr>
              <a:t>Past campaign success converts at 91.32% in the current campaign. A primary source of warm leads.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05840"/>
            <a:ext cx="3840480" cy="35661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109728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Trebuchet MS"/>
              </a:defRPr>
            </a:pPr>
            <a:r>
              <a:t>Avoid Profiles (High Risk Segments)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Debtor Customers: </a:t>
            </a:r>
            <a:r>
              <a:rPr sz="1200">
                <a:solidFill>
                  <a:srgbClr val="1E293B"/>
                </a:solidFill>
                <a:latin typeface="Calibri"/>
              </a:rPr>
              <a:t>Clients with personal loans convert at 33.15% and housing loans at 36.64%. They have low disposable income.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Blue-Collar Workers: </a:t>
            </a:r>
            <a:r>
              <a:rPr sz="1200">
                <a:solidFill>
                  <a:srgbClr val="1E293B"/>
                </a:solidFill>
                <a:latin typeface="Calibri"/>
              </a:rPr>
              <a:t>Constitutes 1,944 calls but converts at only 36.42%. Heavy resource waste.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Unknown Contacts: </a:t>
            </a:r>
            <a:r>
              <a:rPr sz="1200">
                <a:solidFill>
                  <a:srgbClr val="1E293B"/>
                </a:solidFill>
                <a:latin typeface="Calibri"/>
              </a:rPr>
              <a:t>Outreach with unknown contact channels converts at only 22.59%.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Calibri"/>
              </a:defRPr>
            </a:pPr>
            <a:r>
              <a:t>EXECUTIVE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Trebuchet MS"/>
              </a:defRPr>
            </a:pPr>
            <a:r>
              <a:t>Strategic Recommendations for Campaign ROI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8046720" cy="1005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Trebuchet MS"/>
              </a:defRPr>
            </a:pPr>
            <a:r>
              <a:t>1. Reallocate Monthly Budgets and Re-balance Outreach Calendar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Shift agent resources out of over-saturated May campaigns. Re-route 50% of call volumes to March, September, October, and December where conversion is high (82%-90%).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8046720" cy="1005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Trebuchet MS"/>
              </a:defRPr>
            </a:pPr>
            <a:r>
              <a:t>2. Implement Hard Call Capping (Maximum 3 Attempts)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Cap attempts at 3. Re-contacting customers beyond 3 attempts yields sharp diminishing returns (&lt;31%) and damages customer goodwill. Shift idle hours to warm leads.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91840"/>
            <a:ext cx="8046720" cy="1005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Trebuchet MS"/>
              </a:defRPr>
            </a:pPr>
            <a:r>
              <a:t>3. Launch Segmented Offer Pushing and Channel Modernization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661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Prioritize Students/Retirees with tailored terms (low risk, predictable return). Restructure blue-collar pitches to focus on cash flow. Enrich customer databases to eliminate unknown contact channels.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Key Execution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0F766E"/>
                </a:solidFill>
              </a:rPr>
              <a:t>Quality Over Volume: </a:t>
            </a:r>
            <a:r>
              <a:rPr sz="1400">
                <a:solidFill>
                  <a:srgbClr val="F8FAFC"/>
                </a:solidFill>
              </a:rPr>
              <a:t>Shifting from unsegmented high-volume cold-calling to targeted demographics can yield the same deposit volumes with up to 40% lower contact volume.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766E"/>
                </a:solidFill>
              </a:rPr>
              <a:t>Enhance Agent Performance: </a:t>
            </a:r>
            <a:r>
              <a:rPr sz="1400">
                <a:solidFill>
                  <a:srgbClr val="F8FAFC"/>
                </a:solidFill>
              </a:rPr>
              <a:t>Training agents to sustain conversational engagement past the critical 3-minute mark yields an immediate 5x increase in conversion rate.</a:t>
            </a:r>
          </a:p>
          <a:p>
            <a:r>
              <a:rPr b="1" sz="1400">
                <a:solidFill>
                  <a:srgbClr val="0F766E"/>
                </a:solidFill>
              </a:rPr>
              <a:t>Prioritize High Value Leads: </a:t>
            </a:r>
            <a:r>
              <a:rPr sz="1400">
                <a:solidFill>
                  <a:srgbClr val="F8FAFC"/>
                </a:solidFill>
              </a:rPr>
              <a:t>Prioritize clients with a history of success (91.3% conversion rate) and liquid wealth (&gt;€1,708 balance) to optimize direct marketing efforts.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